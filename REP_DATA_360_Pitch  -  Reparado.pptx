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8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CL" sz="1000" b="1">
                <a:solidFill>
                  <a:srgbClr val="1F4D3A"/>
                </a:solidFill>
                <a:latin typeface="Calibri"/>
              </a:rPr>
              <a:t>Reciclaje domiciliario: meta vs. realidad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FB179"/>
              </a:solidFill>
            </c:spPr>
            <c:extLst>
              <c:ext xmlns:c16="http://schemas.microsoft.com/office/drawing/2014/chart" uri="{C3380CC4-5D6E-409C-BE32-E72D297353CC}">
                <c16:uniqueId val="{00000001-F269-4892-AE6F-7FBCDDF7F573}"/>
              </c:ext>
            </c:extLst>
          </c:dPt>
          <c:dPt>
            <c:idx val="1"/>
            <c:invertIfNegative val="1"/>
            <c:bubble3D val="0"/>
            <c:spPr>
              <a:solidFill>
                <a:srgbClr val="F2765C"/>
              </a:solidFill>
            </c:spPr>
            <c:extLst>
              <c:ext xmlns:c16="http://schemas.microsoft.com/office/drawing/2014/chart" uri="{C3380CC4-5D6E-409C-BE32-E72D297353CC}">
                <c16:uniqueId val="{00000003-F269-4892-AE6F-7FBCDDF7F57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63A2C"/>
                    </a:solidFill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Meta 2035</c:v>
                </c:pt>
                <c:pt idx="1">
                  <c:v>Realidad hoy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69-4892-AE6F-7FBCDDF7F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CEFE4"/>
            </a:solidFill>
          </a:ln>
        </c:spPr>
        <c:txPr>
          <a:bodyPr/>
          <a:lstStyle/>
          <a:p>
            <a:pPr>
              <a:defRPr sz="900" b="1">
                <a:solidFill>
                  <a:srgbClr val="1F4D3A"/>
                </a:solidFill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l"/>
        <c:majorGridlines>
          <c:spPr>
            <a:ln w="6350">
              <a:solidFill>
                <a:srgbClr val="E2EF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E74"/>
                </a:solidFill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hart" Target="../charts/chart1.xml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12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5.png"/><Relationship Id="rId5" Type="http://schemas.openxmlformats.org/officeDocument/2006/relationships/image" Target="../media/image25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280160" y="2743200"/>
            <a:ext cx="4206240" cy="4206240"/>
          </a:xfrm>
          <a:prstGeom prst="ellipse">
            <a:avLst/>
          </a:prstGeom>
          <a:solidFill>
            <a:srgbClr val="1F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-1371600"/>
            <a:ext cx="4114800" cy="4114800"/>
          </a:xfrm>
          <a:prstGeom prst="ellipse">
            <a:avLst/>
          </a:prstGeom>
          <a:solidFill>
            <a:srgbClr val="16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eco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76656"/>
            <a:ext cx="6583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 Black"/>
              </a:rPr>
              <a:t>REP DATA 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51206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8BD4A8"/>
                </a:solidFill>
                <a:latin typeface="Calibri"/>
              </a:rPr>
              <a:t>Trazabilidad 360° del reciclaje: qué se recicla, en qué nivel, cuándo y dónde — desde el hogar.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07792"/>
            <a:ext cx="1737360" cy="91440"/>
          </a:xfrm>
          <a:prstGeom prst="roundRect">
            <a:avLst>
              <a:gd name="adj" fmla="val 50000"/>
            </a:avLst>
          </a:prstGeom>
          <a:solidFill>
            <a:srgbClr val="F6C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044952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CFE6DA"/>
                </a:solidFill>
                <a:latin typeface="Calibri"/>
              </a:rPr>
              <a:t>Proyecto de Innovación   ·   Ley REP N°20.920   ·   Chile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93008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6C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493008"/>
            <a:ext cx="1874519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1F4D3A"/>
                </a:solidFill>
                <a:latin typeface="Calibri"/>
              </a:rPr>
              <a:t>Pitch · 3 minutos</a:t>
            </a:r>
          </a:p>
        </p:txBody>
      </p:sp>
      <p:pic>
        <p:nvPicPr>
          <p:cNvPr id="12" name="Picture 11" descr="masco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188720"/>
            <a:ext cx="932688" cy="10332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79008" y="2286000"/>
            <a:ext cx="1170432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8BD4A8"/>
                </a:solidFill>
                <a:latin typeface="Calibri"/>
              </a:rPr>
              <a:t>Verde</a:t>
            </a:r>
          </a:p>
          <a:p>
            <a:pPr algn="ctr"/>
            <a:r>
              <a:rPr sz="800" b="0" i="0">
                <a:solidFill>
                  <a:srgbClr val="BFD6CB"/>
                </a:solidFill>
                <a:latin typeface="Calibri"/>
              </a:rPr>
              <a:t>limpia</a:t>
            </a:r>
          </a:p>
        </p:txBody>
      </p:sp>
      <p:pic>
        <p:nvPicPr>
          <p:cNvPr id="14" name="Picture 13" descr="masco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188720"/>
            <a:ext cx="932688" cy="10332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6560" y="2286000"/>
            <a:ext cx="1170432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F4D79A"/>
                </a:solidFill>
                <a:latin typeface="Calibri"/>
              </a:rPr>
              <a:t>Ámbar</a:t>
            </a:r>
          </a:p>
          <a:p>
            <a:pPr algn="ctr"/>
            <a:r>
              <a:rPr sz="800" b="0" i="0">
                <a:solidFill>
                  <a:srgbClr val="BFD6CB"/>
                </a:solidFill>
                <a:latin typeface="Calibri"/>
              </a:rPr>
              <a:t>intermedia</a:t>
            </a:r>
          </a:p>
        </p:txBody>
      </p:sp>
      <p:pic>
        <p:nvPicPr>
          <p:cNvPr id="16" name="Picture 15" descr="masco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3" y="1188720"/>
            <a:ext cx="932688" cy="1033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54111" y="2286000"/>
            <a:ext cx="1170432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F9D2C9"/>
                </a:solidFill>
                <a:latin typeface="Calibri"/>
              </a:rPr>
              <a:t>Roja</a:t>
            </a:r>
          </a:p>
          <a:p>
            <a:pPr algn="ctr"/>
            <a:r>
              <a:rPr sz="800" b="0" i="0">
                <a:solidFill>
                  <a:srgbClr val="BFD6CB"/>
                </a:solidFill>
                <a:latin typeface="Calibri"/>
              </a:rPr>
              <a:t>contaminada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163A2C"/>
          </a:solidFill>
          <a:ln w="19050">
            <a:solidFill>
              <a:srgbClr val="8BD4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_per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EL PROBLEMA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" y="896112"/>
            <a:ext cx="2286000" cy="228600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" y="841248"/>
            <a:ext cx="228600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841248"/>
            <a:ext cx="2103120" cy="118872"/>
          </a:xfrm>
          <a:prstGeom prst="roundRect">
            <a:avLst>
              <a:gd name="adj" fmla="val 40000"/>
            </a:avLst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210312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5000" b="1" i="0">
                <a:solidFill>
                  <a:srgbClr val="D2543C"/>
                </a:solidFill>
                <a:latin typeface="Arial Black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210312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6B7E74"/>
                </a:solidFill>
                <a:latin typeface="Calibri"/>
              </a:rPr>
              <a:t>del material en puntos de reciclaje</a:t>
            </a:r>
          </a:p>
          <a:p>
            <a:pPr algn="ctr">
              <a:spcBef>
                <a:spcPts val="300"/>
              </a:spcBef>
            </a:pPr>
            <a:r>
              <a:rPr sz="1150" b="1" i="0">
                <a:solidFill>
                  <a:srgbClr val="1E3A2E"/>
                </a:solidFill>
                <a:latin typeface="Calibri"/>
              </a:rPr>
              <a:t>termina en el relleno sanitario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529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50" b="0" i="1">
                <a:solidFill>
                  <a:srgbClr val="6B7E74"/>
                </a:solidFill>
                <a:latin typeface="Calibri"/>
              </a:rPr>
              <a:t>Fuente: OCDE (2022)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834640" y="896112"/>
          <a:ext cx="32004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Oval 15"/>
          <p:cNvSpPr/>
          <p:nvPr/>
        </p:nvSpPr>
        <p:spPr>
          <a:xfrm>
            <a:off x="6281928" y="868680"/>
            <a:ext cx="566928" cy="56692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_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652" y="993404"/>
            <a:ext cx="317479" cy="3174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0" y="868680"/>
            <a:ext cx="21031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1" i="0">
                <a:solidFill>
                  <a:srgbClr val="1E3A2E"/>
                </a:solidFill>
                <a:latin typeface="Calibri"/>
              </a:rPr>
              <a:t>En el hogar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850" b="0" i="0">
                <a:solidFill>
                  <a:srgbClr val="6B7E74"/>
                </a:solidFill>
                <a:latin typeface="Calibri"/>
              </a:rPr>
              <a:t>El ciudadano separa, pero sin saber si lo hace bien.</a:t>
            </a:r>
          </a:p>
        </p:txBody>
      </p:sp>
      <p:sp>
        <p:nvSpPr>
          <p:cNvPr id="19" name="Oval 18"/>
          <p:cNvSpPr/>
          <p:nvPr/>
        </p:nvSpPr>
        <p:spPr>
          <a:xfrm>
            <a:off x="6281928" y="1636776"/>
            <a:ext cx="566928" cy="566928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_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652" y="1761500"/>
            <a:ext cx="317479" cy="3174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49440" y="1636776"/>
            <a:ext cx="21031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1" i="0">
                <a:solidFill>
                  <a:srgbClr val="1E3A2E"/>
                </a:solidFill>
                <a:latin typeface="Calibri"/>
              </a:rPr>
              <a:t>En el camión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850" b="0" i="0">
                <a:solidFill>
                  <a:srgbClr val="6B7E74"/>
                </a:solidFill>
                <a:latin typeface="Calibri"/>
              </a:rPr>
              <a:t>El material contaminado viaja kilómetros antes del rechazo.</a:t>
            </a:r>
          </a:p>
        </p:txBody>
      </p:sp>
      <p:sp>
        <p:nvSpPr>
          <p:cNvPr id="22" name="Oval 21"/>
          <p:cNvSpPr/>
          <p:nvPr/>
        </p:nvSpPr>
        <p:spPr>
          <a:xfrm>
            <a:off x="6281928" y="2404872"/>
            <a:ext cx="566928" cy="566928"/>
          </a:xfrm>
          <a:prstGeom prst="ellipse">
            <a:avLst/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_fac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6652" y="2529596"/>
            <a:ext cx="317479" cy="3174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9440" y="2404872"/>
            <a:ext cx="21031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1" i="0">
                <a:solidFill>
                  <a:srgbClr val="1E3A2E"/>
                </a:solidFill>
                <a:latin typeface="Calibri"/>
              </a:rPr>
              <a:t>En la planta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850" b="0" i="0">
                <a:solidFill>
                  <a:srgbClr val="6B7E74"/>
                </a:solidFill>
                <a:latin typeface="Calibri"/>
              </a:rPr>
              <a:t>El rechazo ocurre tarde: costo pagado, meta REP no cumplida.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" y="3300984"/>
            <a:ext cx="7223760" cy="13258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3246120"/>
            <a:ext cx="7223760" cy="1325880"/>
          </a:xfrm>
          <a:prstGeom prst="roundRect">
            <a:avLst>
              <a:gd name="adj" fmla="val 9000"/>
            </a:avLst>
          </a:prstGeom>
          <a:solidFill>
            <a:srgbClr val="FC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" y="3246120"/>
            <a:ext cx="7040880" cy="118872"/>
          </a:xfrm>
          <a:prstGeom prst="roundRect">
            <a:avLst>
              <a:gd name="adj" fmla="val 40000"/>
            </a:avLst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2648" y="3502152"/>
            <a:ext cx="676656" cy="676656"/>
          </a:xfrm>
          <a:prstGeom prst="ellipse">
            <a:avLst/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_doll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895" y="3654399"/>
            <a:ext cx="372160" cy="3721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17320" y="3328416"/>
            <a:ext cx="4023360" cy="12252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D2543C"/>
                </a:solidFill>
                <a:latin typeface="Calibri"/>
              </a:rPr>
              <a:t>El que paga, no controla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900" b="0" i="0">
                <a:solidFill>
                  <a:srgbClr val="1E3A2E"/>
                </a:solidFill>
                <a:latin typeface="Calibri"/>
              </a:rPr>
              <a:t>Las empresas (productoras e importadoras) son las sancionadas si no cumplen sus metas REP, pero solo pueden cumplirlas a través de los sistemas de gestión —entes independientes por ley para evitar conflictos de interés—, sin ver la calidad real del reciclaje.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59552" y="3419856"/>
            <a:ext cx="193852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59552" y="3511296"/>
            <a:ext cx="1938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500" b="1" i="0">
                <a:solidFill>
                  <a:srgbClr val="D2543C"/>
                </a:solidFill>
                <a:latin typeface="Arial Black"/>
              </a:rPr>
              <a:t>10.000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552" y="3968496"/>
            <a:ext cx="193852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1" i="0">
                <a:solidFill>
                  <a:srgbClr val="6B7E74"/>
                </a:solidFill>
                <a:latin typeface="Calibri"/>
              </a:rPr>
              <a:t>UTA: multa máxima por incumplir metas (SMA)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Fuentes: OCDE (2022); MMA/ReSimple 2024 (1,96 M ton al mercado; plástico domiciliario 1,6%); multas Ley REP 20.920 hasta 10.000 UTA (SMA).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c_per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16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USUARIO PRINCIPAL Y CLIENTE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76656"/>
            <a:ext cx="841248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E3A2E"/>
                </a:solidFill>
                <a:latin typeface="Calibri"/>
              </a:rPr>
              <a:t>Las empresas </a:t>
            </a:r>
            <a:r>
              <a:rPr sz="1050" b="0" i="0">
                <a:solidFill>
                  <a:srgbClr val="6B7E74"/>
                </a:solidFill>
                <a:latin typeface="Calibri"/>
              </a:rPr>
              <a:t>(cliente) financian el sistema; los </a:t>
            </a:r>
            <a:r>
              <a:rPr sz="1100" b="1" i="0">
                <a:solidFill>
                  <a:srgbClr val="1E3A2E"/>
                </a:solidFill>
                <a:latin typeface="Calibri"/>
              </a:rPr>
              <a:t>sistemas de gestión </a:t>
            </a:r>
            <a:r>
              <a:rPr sz="1050" b="0" i="0">
                <a:solidFill>
                  <a:srgbClr val="6B7E74"/>
                </a:solidFill>
                <a:latin typeface="Calibri"/>
              </a:rPr>
              <a:t>(usuario principal) lo operan con REP DATA 360.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" y="1170432"/>
            <a:ext cx="4114800" cy="285292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1115568"/>
            <a:ext cx="4114800" cy="2852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1115568"/>
            <a:ext cx="3931920" cy="118872"/>
          </a:xfrm>
          <a:prstGeom prst="roundRect">
            <a:avLst>
              <a:gd name="adj" fmla="val 4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3504" y="1453895"/>
            <a:ext cx="713232" cy="713232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15" y="1610807"/>
            <a:ext cx="399409" cy="3994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1481328"/>
            <a:ext cx="2926080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E3A2E"/>
                </a:solidFill>
                <a:latin typeface="Calibri"/>
              </a:rPr>
              <a:t>Cliente</a:t>
            </a:r>
          </a:p>
          <a:p>
            <a:pPr algn="l">
              <a:lnSpc>
                <a:spcPct val="92000"/>
              </a:lnSpc>
              <a:spcBef>
                <a:spcPts val="100"/>
              </a:spcBef>
            </a:pPr>
            <a:r>
              <a:rPr sz="950" b="0" i="1">
                <a:solidFill>
                  <a:srgbClr val="6B7E74"/>
                </a:solidFill>
                <a:latin typeface="Calibri"/>
              </a:rPr>
              <a:t>Empresas productoras e importadoras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267712"/>
            <a:ext cx="3712463" cy="274320"/>
          </a:xfrm>
          <a:prstGeom prst="roundRect">
            <a:avLst>
              <a:gd name="adj" fmla="val 40000"/>
            </a:avLst>
          </a:prstGeom>
          <a:solidFill>
            <a:srgbClr val="EF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267712"/>
            <a:ext cx="3712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50" b="1" i="0">
                <a:solidFill>
                  <a:srgbClr val="4FA3E3"/>
                </a:solidFill>
                <a:latin typeface="Calibri"/>
              </a:rPr>
              <a:t>Obligadas por la Ley REP · pagan el sistema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596896"/>
            <a:ext cx="3639312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1" i="0">
                <a:solidFill>
                  <a:srgbClr val="D2543C"/>
                </a:solidFill>
                <a:latin typeface="Calibri"/>
              </a:rPr>
              <a:t>DOLOR  </a:t>
            </a:r>
            <a:r>
              <a:rPr sz="950" b="0" i="0">
                <a:solidFill>
                  <a:srgbClr val="6B7E74"/>
                </a:solidFill>
                <a:latin typeface="Calibri"/>
              </a:rPr>
              <a:t>Deben cumplir metas REP y demostrarlo, sin datos confiables de qué se recicla en los hogares.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310128"/>
            <a:ext cx="3639312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1" i="0">
                <a:solidFill>
                  <a:srgbClr val="1F8A5C"/>
                </a:solidFill>
                <a:latin typeface="Calibri"/>
              </a:rPr>
              <a:t>GANANCIA  </a:t>
            </a:r>
            <a:r>
              <a:rPr sz="950" b="0" i="0">
                <a:solidFill>
                  <a:srgbClr val="1E3A2E"/>
                </a:solidFill>
                <a:latin typeface="Calibri"/>
              </a:rPr>
              <a:t>Evidencia real —calidad, hora y lugar— para acreditar sus metas ante la autoridad.</a:t>
            </a:r>
          </a:p>
        </p:txBody>
      </p:sp>
      <p:sp>
        <p:nvSpPr>
          <p:cNvPr id="20" name="Oval 19"/>
          <p:cNvSpPr/>
          <p:nvPr/>
        </p:nvSpPr>
        <p:spPr>
          <a:xfrm>
            <a:off x="4334256" y="2304288"/>
            <a:ext cx="384048" cy="384048"/>
          </a:xfrm>
          <a:prstGeom prst="ellipse">
            <a:avLst/>
          </a:prstGeom>
          <a:solidFill>
            <a:srgbClr val="F6C54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4434840" y="2377440"/>
            <a:ext cx="201168" cy="237744"/>
          </a:xfrm>
          <a:prstGeom prst="chevron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04588" y="1170432"/>
            <a:ext cx="4114800" cy="285292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63440" y="1115568"/>
            <a:ext cx="4114800" cy="2852928"/>
          </a:xfrm>
          <a:prstGeom prst="roundRect">
            <a:avLst>
              <a:gd name="adj" fmla="val 9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754879" y="1115568"/>
            <a:ext cx="3931920" cy="118872"/>
          </a:xfrm>
          <a:prstGeom prst="roundRect">
            <a:avLst>
              <a:gd name="adj" fmla="val 40000"/>
            </a:avLst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901184" y="1453895"/>
            <a:ext cx="713232" cy="713232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8095" y="1610807"/>
            <a:ext cx="399409" cy="3994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60720" y="1481328"/>
            <a:ext cx="2926080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E3A2E"/>
                </a:solidFill>
                <a:latin typeface="Calibri"/>
              </a:rPr>
              <a:t>Usuario principal</a:t>
            </a:r>
          </a:p>
          <a:p>
            <a:pPr algn="l">
              <a:lnSpc>
                <a:spcPct val="92000"/>
              </a:lnSpc>
              <a:spcBef>
                <a:spcPts val="100"/>
              </a:spcBef>
            </a:pPr>
            <a:r>
              <a:rPr sz="950" b="0" i="1">
                <a:solidFill>
                  <a:srgbClr val="6B7E74"/>
                </a:solidFill>
                <a:latin typeface="Calibri"/>
              </a:rPr>
              <a:t>Sistemas de gestión de reciclaje domiciliario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4608" y="2267712"/>
            <a:ext cx="3712463" cy="274320"/>
          </a:xfrm>
          <a:prstGeom prst="roundRect">
            <a:avLst>
              <a:gd name="adj" fmla="val 40000"/>
            </a:avLst>
          </a:prstGeom>
          <a:solidFill>
            <a:srgbClr val="DC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64608" y="2267712"/>
            <a:ext cx="3712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50" b="1" i="0">
                <a:solidFill>
                  <a:srgbClr val="1F8A5C"/>
                </a:solidFill>
                <a:latin typeface="Calibri"/>
              </a:rPr>
              <a:t>GIRO y ReSimple · operan el sistema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4" y="2596896"/>
            <a:ext cx="3639312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1" i="0">
                <a:solidFill>
                  <a:srgbClr val="D2543C"/>
                </a:solidFill>
                <a:latin typeface="Calibri"/>
              </a:rPr>
              <a:t>DOLOR  </a:t>
            </a:r>
            <a:r>
              <a:rPr sz="950" b="0" i="0">
                <a:solidFill>
                  <a:srgbClr val="6B7E74"/>
                </a:solidFill>
                <a:latin typeface="Calibri"/>
              </a:rPr>
              <a:t>Gestionan la recolección sin trazabilidad de la calidad en origen.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3310128"/>
            <a:ext cx="3639312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1" i="0">
                <a:solidFill>
                  <a:srgbClr val="1F8A5C"/>
                </a:solidFill>
                <a:latin typeface="Calibri"/>
              </a:rPr>
              <a:t>GANANCIA  </a:t>
            </a:r>
            <a:r>
              <a:rPr sz="950" b="0" i="0">
                <a:solidFill>
                  <a:srgbClr val="1E3A2E"/>
                </a:solidFill>
                <a:latin typeface="Calibri"/>
              </a:rPr>
              <a:t>Datos 360 por zona para optimizar rutas, reducir rechazo y reportar resultados.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En la Ley REP, los productores e importadores financian a los sistemas de gestión (GIRO, ReSimple) que operan el reciclaje.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_per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OTROS USUARIOS QUE SE BENEFICIAN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" y="969264"/>
            <a:ext cx="2743200" cy="303580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" y="914400"/>
            <a:ext cx="2743200" cy="3035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914400"/>
            <a:ext cx="2560320" cy="118872"/>
          </a:xfrm>
          <a:prstGeom prst="roundRect">
            <a:avLst>
              <a:gd name="adj" fmla="val 4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188720"/>
            <a:ext cx="804672" cy="804672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_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2051" y="1365747"/>
            <a:ext cx="450616" cy="450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2176272"/>
            <a:ext cx="25603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1E3A2E"/>
                </a:solidFill>
                <a:latin typeface="Calibri"/>
              </a:rPr>
              <a:t>Ciudadano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900" b="0" i="1">
                <a:solidFill>
                  <a:srgbClr val="6B7E74"/>
                </a:solidFill>
                <a:latin typeface="Calibri"/>
              </a:rPr>
              <a:t>Hogares urbanos de Chile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23774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1F8A5C"/>
                </a:solidFill>
                <a:latin typeface="Calibri"/>
              </a:rPr>
              <a:t>BENEFICIO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00" b="0" i="0">
                <a:solidFill>
                  <a:srgbClr val="1E3A2E"/>
                </a:solidFill>
                <a:latin typeface="Calibri"/>
              </a:rPr>
              <a:t>Sabe si recicló bien o mal: el color de la bolsa y un sticker con instrucciones lo ayudan a mejorar.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7268" y="969264"/>
            <a:ext cx="2743200" cy="303580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46120" y="914400"/>
            <a:ext cx="2743200" cy="3035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37560" y="914400"/>
            <a:ext cx="2560320" cy="118872"/>
          </a:xfrm>
          <a:prstGeom prst="roundRect">
            <a:avLst>
              <a:gd name="adj" fmla="val 40000"/>
            </a:avLst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15383" y="1188720"/>
            <a:ext cx="804672" cy="804672"/>
          </a:xfrm>
          <a:prstGeom prst="ellipse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411" y="1365747"/>
            <a:ext cx="450616" cy="4506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37560" y="2176272"/>
            <a:ext cx="25603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1E3A2E"/>
                </a:solidFill>
                <a:latin typeface="Calibri"/>
              </a:rPr>
              <a:t>Reciclador de Base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900" b="0" i="1">
                <a:solidFill>
                  <a:srgbClr val="6B7E74"/>
                </a:solidFill>
                <a:latin typeface="Calibri"/>
              </a:rPr>
              <a:t>Operador formalizado Art.37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834640"/>
            <a:ext cx="23774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1F8A5C"/>
                </a:solidFill>
                <a:latin typeface="Calibri"/>
              </a:rPr>
              <a:t>BENEFICIO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00" b="0" i="0">
                <a:solidFill>
                  <a:srgbClr val="1E3A2E"/>
                </a:solidFill>
                <a:latin typeface="Calibri"/>
              </a:rPr>
              <a:t>Solo recoge bolsas que sí reciclan: menos rechazo y más ingreso certificado.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7628" y="969264"/>
            <a:ext cx="2743200" cy="303580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0" y="914400"/>
            <a:ext cx="2743200" cy="3035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17920" y="914400"/>
            <a:ext cx="2560320" cy="118872"/>
          </a:xfrm>
          <a:prstGeom prst="roundRect">
            <a:avLst>
              <a:gd name="adj" fmla="val 40000"/>
            </a:avLst>
          </a:prstGeom>
          <a:solidFill>
            <a:srgbClr val="16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95743" y="1188720"/>
            <a:ext cx="804672" cy="804672"/>
          </a:xfrm>
          <a:prstGeom prst="ellipse">
            <a:avLst/>
          </a:prstGeom>
          <a:solidFill>
            <a:srgbClr val="16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_fac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771" y="1365747"/>
            <a:ext cx="450616" cy="4506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17920" y="2176272"/>
            <a:ext cx="25603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1E3A2E"/>
                </a:solidFill>
                <a:latin typeface="Calibri"/>
              </a:rPr>
              <a:t>Planta de valorización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900" b="0" i="1">
                <a:solidFill>
                  <a:srgbClr val="6B7E74"/>
                </a:solidFill>
                <a:latin typeface="Calibri"/>
              </a:rPr>
              <a:t>Recibe el material recolectado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834640"/>
            <a:ext cx="23774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1F8A5C"/>
                </a:solidFill>
                <a:latin typeface="Calibri"/>
              </a:rPr>
              <a:t>BENEFICIO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00" b="0" i="0">
                <a:solidFill>
                  <a:srgbClr val="1E3A2E"/>
                </a:solidFill>
                <a:latin typeface="Calibri"/>
              </a:rPr>
              <a:t>Llega material más limpio y clasificado: menos rechazo y mejor rendimiento.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Beneficiarios indirectos del dato y la señal visual de REP DATA 360.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c_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LA SOLUCIÓN: REP DATA 360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8368"/>
            <a:ext cx="83210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E3A2E"/>
                </a:solidFill>
                <a:latin typeface="Calibri"/>
              </a:rPr>
              <a:t>Una bolsa con indicador químico en el film y chip RFID: clasifica el reciclaje y registra hora y lugar.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" y="1152144"/>
            <a:ext cx="1783080" cy="239572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1783080" cy="2395728"/>
          </a:xfrm>
          <a:prstGeom prst="roundRect">
            <a:avLst>
              <a:gd name="adj" fmla="val 9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1097280"/>
            <a:ext cx="1600200" cy="118872"/>
          </a:xfrm>
          <a:prstGeom prst="roundRect">
            <a:avLst>
              <a:gd name="adj" fmla="val 40000"/>
            </a:avLst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asco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243584"/>
            <a:ext cx="91440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2286000"/>
            <a:ext cx="16916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1F8A5C"/>
                </a:solidFill>
                <a:latin typeface="Arial Black"/>
              </a:rPr>
              <a:t>VERDE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596896"/>
            <a:ext cx="1636776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1E3A2E"/>
                </a:solidFill>
                <a:latin typeface="Calibri"/>
              </a:rPr>
              <a:t>Material limpio. Va a reciclaje.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1427" y="1152144"/>
            <a:ext cx="1783080" cy="239572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40279" y="1097280"/>
            <a:ext cx="1783080" cy="2395728"/>
          </a:xfrm>
          <a:prstGeom prst="roundRect">
            <a:avLst>
              <a:gd name="adj" fmla="val 9000"/>
            </a:avLst>
          </a:prstGeom>
          <a:solidFill>
            <a:srgbClr val="F7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331720" y="1097280"/>
            <a:ext cx="1600200" cy="118872"/>
          </a:xfrm>
          <a:prstGeom prst="roundRect">
            <a:avLst>
              <a:gd name="adj" fmla="val 40000"/>
            </a:avLst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ascot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620" y="1243584"/>
            <a:ext cx="914400" cy="1005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5999" y="2286000"/>
            <a:ext cx="16916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9C6A12"/>
                </a:solidFill>
                <a:latin typeface="Arial Black"/>
              </a:rPr>
              <a:t>ÁMBAR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2" y="2596896"/>
            <a:ext cx="1636776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1E3A2E"/>
                </a:solidFill>
                <a:latin typeface="Calibri"/>
              </a:rPr>
              <a:t>Contaminación parcial. Igual va a reciclaje.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5948" y="1152144"/>
            <a:ext cx="1783080" cy="239572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0" y="1097280"/>
            <a:ext cx="1783080" cy="2395728"/>
          </a:xfrm>
          <a:prstGeom prst="roundRect">
            <a:avLst>
              <a:gd name="adj" fmla="val 9000"/>
            </a:avLst>
          </a:prstGeom>
          <a:solidFill>
            <a:srgbClr val="F9D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06240" y="1097280"/>
            <a:ext cx="1600200" cy="118872"/>
          </a:xfrm>
          <a:prstGeom prst="roundRect">
            <a:avLst>
              <a:gd name="adj" fmla="val 40000"/>
            </a:avLst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ascot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9140" y="1243584"/>
            <a:ext cx="914400" cy="1005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60520" y="2286000"/>
            <a:ext cx="16916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D2543C"/>
                </a:solidFill>
                <a:latin typeface="Arial Black"/>
              </a:rPr>
              <a:t>ROJA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7952" y="2596896"/>
            <a:ext cx="1636776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1E3A2E"/>
                </a:solidFill>
                <a:latin typeface="Calibri"/>
              </a:rPr>
              <a:t>Alta contaminación. Lleva sticker con instrucciones.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097280"/>
            <a:ext cx="2834640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B1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solucion_vide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989320" y="1152144"/>
            <a:ext cx="2743200" cy="22860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06908" y="3712463"/>
            <a:ext cx="2743200" cy="56692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274320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21208" y="3749039"/>
            <a:ext cx="384048" cy="38404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" y="3825849"/>
            <a:ext cx="230428" cy="2304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7552" y="3657600"/>
            <a:ext cx="20574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F8A5C"/>
                </a:solidFill>
                <a:latin typeface="Calibri"/>
              </a:rPr>
              <a:t>La bolsa también es reciclable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87268" y="3712463"/>
            <a:ext cx="2788920" cy="566928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246120" y="3657600"/>
            <a:ext cx="278892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401568" y="3749039"/>
            <a:ext cx="384048" cy="384048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c_rf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7978" y="3835450"/>
            <a:ext cx="211226" cy="2112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67912" y="3657600"/>
            <a:ext cx="210312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4FA3E3"/>
                </a:solidFill>
                <a:latin typeface="Calibri"/>
              </a:rPr>
              <a:t>Chip RFID: registra hora y lugar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El indicador reacciona con grasas, proteínas y ácidos orgánicos; el chip RFID se lee al pasar por el camión.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c_pers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0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¿CÓMO FUNCIONA?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13232" y="1371600"/>
            <a:ext cx="896112" cy="896112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59" y="1595628"/>
            <a:ext cx="448056" cy="44805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280160" y="1298448"/>
            <a:ext cx="329184" cy="329184"/>
          </a:xfrm>
          <a:prstGeom prst="ellipse">
            <a:avLst/>
          </a:prstGeom>
          <a:solidFill>
            <a:srgbClr val="1F4D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1298448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77440"/>
            <a:ext cx="168249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E3A2E"/>
                </a:solidFill>
                <a:latin typeface="Calibri"/>
              </a:rPr>
              <a:t>Deposita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724912"/>
            <a:ext cx="1682496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B7E74"/>
                </a:solidFill>
                <a:latin typeface="Calibri"/>
              </a:rPr>
              <a:t>Residuos: envases, cartón, plástico.</a:t>
            </a:r>
          </a:p>
        </p:txBody>
      </p:sp>
      <p:sp>
        <p:nvSpPr>
          <p:cNvPr id="15" name="Chevron 14"/>
          <p:cNvSpPr/>
          <p:nvPr/>
        </p:nvSpPr>
        <p:spPr>
          <a:xfrm>
            <a:off x="1911095" y="1691640"/>
            <a:ext cx="256032" cy="256032"/>
          </a:xfrm>
          <a:prstGeom prst="chevron">
            <a:avLst/>
          </a:prstGeom>
          <a:solidFill>
            <a:srgbClr val="F6C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468880" y="1371600"/>
            <a:ext cx="896112" cy="896112"/>
          </a:xfrm>
          <a:prstGeom prst="ellipse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_colo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908" y="1595628"/>
            <a:ext cx="448056" cy="448056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035808" y="1298448"/>
            <a:ext cx="329184" cy="329184"/>
          </a:xfrm>
          <a:prstGeom prst="ellipse">
            <a:avLst/>
          </a:prstGeom>
          <a:solidFill>
            <a:srgbClr val="1F4D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35808" y="1298448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2377440"/>
            <a:ext cx="168249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E3A2E"/>
                </a:solidFill>
                <a:latin typeface="Calibri"/>
              </a:rPr>
              <a:t>Color en escala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2724912"/>
            <a:ext cx="1682496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B7E74"/>
                </a:solidFill>
                <a:latin typeface="Calibri"/>
              </a:rPr>
              <a:t>Verde, ámbar o roja según contaminación.</a:t>
            </a:r>
          </a:p>
        </p:txBody>
      </p:sp>
      <p:sp>
        <p:nvSpPr>
          <p:cNvPr id="22" name="Chevron 21"/>
          <p:cNvSpPr/>
          <p:nvPr/>
        </p:nvSpPr>
        <p:spPr>
          <a:xfrm>
            <a:off x="3666744" y="1691640"/>
            <a:ext cx="256032" cy="256032"/>
          </a:xfrm>
          <a:prstGeom prst="chevron">
            <a:avLst/>
          </a:prstGeom>
          <a:solidFill>
            <a:srgbClr val="F6C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224528" y="1371600"/>
            <a:ext cx="896112" cy="896112"/>
          </a:xfrm>
          <a:prstGeom prst="ellipse">
            <a:avLst/>
          </a:prstGeom>
          <a:solidFill>
            <a:srgbClr val="16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_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556" y="1595628"/>
            <a:ext cx="448056" cy="448056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4791456" y="1298448"/>
            <a:ext cx="329184" cy="329184"/>
          </a:xfrm>
          <a:prstGeom prst="ellipse">
            <a:avLst/>
          </a:prstGeom>
          <a:solidFill>
            <a:srgbClr val="1F4D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91456" y="1298448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31336" y="2377440"/>
            <a:ext cx="168249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E3A2E"/>
                </a:solidFill>
                <a:latin typeface="Calibri"/>
              </a:rPr>
              <a:t>Retiro semanal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1336" y="2724912"/>
            <a:ext cx="1682496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B7E74"/>
                </a:solidFill>
                <a:latin typeface="Calibri"/>
              </a:rPr>
              <a:t>1 vez por semana (distinto a la basura).</a:t>
            </a:r>
          </a:p>
        </p:txBody>
      </p:sp>
      <p:sp>
        <p:nvSpPr>
          <p:cNvPr id="29" name="Chevron 28"/>
          <p:cNvSpPr/>
          <p:nvPr/>
        </p:nvSpPr>
        <p:spPr>
          <a:xfrm>
            <a:off x="5422392" y="1691640"/>
            <a:ext cx="256032" cy="256032"/>
          </a:xfrm>
          <a:prstGeom prst="chevron">
            <a:avLst/>
          </a:prstGeom>
          <a:solidFill>
            <a:srgbClr val="F6C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980176" y="1371600"/>
            <a:ext cx="896112" cy="896112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_rf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4204" y="1595628"/>
            <a:ext cx="448056" cy="448056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547104" y="1298448"/>
            <a:ext cx="329184" cy="329184"/>
          </a:xfrm>
          <a:prstGeom prst="ellipse">
            <a:avLst/>
          </a:prstGeom>
          <a:solidFill>
            <a:srgbClr val="1F4D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47104" y="1298448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6984" y="2377440"/>
            <a:ext cx="168249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E3A2E"/>
                </a:solidFill>
                <a:latin typeface="Calibri"/>
              </a:rPr>
              <a:t>Lectura RFID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6984" y="2724912"/>
            <a:ext cx="1682496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B7E74"/>
                </a:solidFill>
                <a:latin typeface="Calibri"/>
              </a:rPr>
              <a:t>En la boca del camión: registra hora y lugar.</a:t>
            </a:r>
          </a:p>
        </p:txBody>
      </p:sp>
      <p:sp>
        <p:nvSpPr>
          <p:cNvPr id="36" name="Chevron 35"/>
          <p:cNvSpPr/>
          <p:nvPr/>
        </p:nvSpPr>
        <p:spPr>
          <a:xfrm>
            <a:off x="7178040" y="1691640"/>
            <a:ext cx="256032" cy="256032"/>
          </a:xfrm>
          <a:prstGeom prst="chevron">
            <a:avLst/>
          </a:prstGeom>
          <a:solidFill>
            <a:srgbClr val="F6C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35823" y="1371600"/>
            <a:ext cx="896112" cy="896112"/>
          </a:xfrm>
          <a:prstGeom prst="ellipse">
            <a:avLst/>
          </a:prstGeom>
          <a:solidFill>
            <a:srgbClr val="C0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c_sti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9852" y="1595628"/>
            <a:ext cx="448056" cy="448056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8302752" y="1298448"/>
            <a:ext cx="329184" cy="329184"/>
          </a:xfrm>
          <a:prstGeom prst="ellipse">
            <a:avLst/>
          </a:prstGeom>
          <a:solidFill>
            <a:srgbClr val="1F4D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02752" y="1298448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2631" y="2377440"/>
            <a:ext cx="168249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E3A2E"/>
                </a:solidFill>
                <a:latin typeface="Calibri"/>
              </a:rPr>
              <a:t>Feedback + dato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2631" y="2724912"/>
            <a:ext cx="1682496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B7E74"/>
                </a:solidFill>
                <a:latin typeface="Calibri"/>
              </a:rPr>
              <a:t>Sticker si está muy contaminada; dato al RETC.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160520"/>
            <a:ext cx="7223760" cy="676656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160520"/>
            <a:ext cx="685800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Si la bolsa no se recogió o quedó roja, el ciudadano recibe feedback para mejorar. </a:t>
            </a:r>
            <a:r>
              <a:rPr sz="1050" b="0" i="0">
                <a:solidFill>
                  <a:srgbClr val="8BD4A8"/>
                </a:solidFill>
                <a:latin typeface="Calibri"/>
              </a:rPr>
              <a:t>El camión solo lee el color y el chip.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c_per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LA ETIQUETA QUE EDUCA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0080"/>
            <a:ext cx="83210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 i="0">
                <a:solidFill>
                  <a:srgbClr val="1E3A2E"/>
                </a:solidFill>
                <a:latin typeface="Calibri"/>
              </a:rPr>
              <a:t>Cuando la bolsa no queda verde, una etiqueta cierra el ciclo: agradece, explica y ofrece ayuda para mejorar.</a:t>
            </a:r>
          </a:p>
        </p:txBody>
      </p:sp>
      <p:pic>
        <p:nvPicPr>
          <p:cNvPr id="10" name="Picture 9" descr="label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" y="1097280"/>
            <a:ext cx="1929384" cy="3154680"/>
          </a:xfrm>
          <a:prstGeom prst="rect">
            <a:avLst/>
          </a:prstGeom>
        </p:spPr>
      </p:pic>
      <p:pic>
        <p:nvPicPr>
          <p:cNvPr id="11" name="Picture 10" descr="label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1097280"/>
            <a:ext cx="2002536" cy="3154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1207008"/>
            <a:ext cx="2880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1E3A2E"/>
                </a:solidFill>
                <a:latin typeface="Calibri"/>
              </a:rPr>
              <a:t>El feedback, en acción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82496"/>
            <a:ext cx="2798064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FB1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feedback_vide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971032" y="1709928"/>
            <a:ext cx="2743200" cy="1545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Etiquetas de feedback al ciudadano (Proyecto Ley REP N°20.920).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_per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INNOVACIÓN Y DIFERENCIACIÓN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46120" y="713232"/>
            <a:ext cx="2468880" cy="475488"/>
          </a:xfrm>
          <a:prstGeom prst="roundRect">
            <a:avLst>
              <a:gd name="adj" fmla="val 20000"/>
            </a:avLst>
          </a:prstGeom>
          <a:solidFill>
            <a:srgbClr val="9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713232"/>
            <a:ext cx="24688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 Black"/>
              </a:rPr>
              <a:t>Bolsa común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713232"/>
            <a:ext cx="2468880" cy="475488"/>
          </a:xfrm>
          <a:prstGeom prst="roundRect">
            <a:avLst>
              <a:gd name="adj" fmla="val 20000"/>
            </a:avLst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713232"/>
            <a:ext cx="24688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 Black"/>
              </a:rPr>
              <a:t>REP DATA 360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786384"/>
            <a:ext cx="411480" cy="411480"/>
          </a:xfrm>
          <a:prstGeom prst="ellipse">
            <a:avLst/>
          </a:prstGeom>
          <a:solidFill>
            <a:srgbClr val="F6C54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786384"/>
            <a:ext cx="411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1F4D3A"/>
                </a:solidFill>
                <a:latin typeface="Arial Black"/>
              </a:rPr>
              <a:t>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316736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EF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1316736"/>
            <a:ext cx="2670048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3A2E"/>
                </a:solidFill>
                <a:latin typeface="Calibri"/>
              </a:rPr>
              <a:t>¿Dónde detecta?</a:t>
            </a:r>
          </a:p>
        </p:txBody>
      </p:sp>
      <p:sp>
        <p:nvSpPr>
          <p:cNvPr id="17" name="Oval 16"/>
          <p:cNvSpPr/>
          <p:nvPr/>
        </p:nvSpPr>
        <p:spPr>
          <a:xfrm>
            <a:off x="3323844" y="1421892"/>
            <a:ext cx="246888" cy="246888"/>
          </a:xfrm>
          <a:prstGeom prst="ellipse">
            <a:avLst/>
          </a:prstGeom>
          <a:solidFill>
            <a:srgbClr val="AEB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393" y="1477441"/>
            <a:ext cx="135788" cy="1357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7600" y="1316736"/>
            <a:ext cx="2057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0" i="0">
                <a:solidFill>
                  <a:srgbClr val="6B7E74"/>
                </a:solidFill>
                <a:latin typeface="Calibri"/>
              </a:rPr>
              <a:t>En la planta (tarde)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44168"/>
            <a:ext cx="2468880" cy="402336"/>
          </a:xfrm>
          <a:prstGeom prst="roundRect">
            <a:avLst>
              <a:gd name="adj" fmla="val 16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95644" y="1421892"/>
            <a:ext cx="246888" cy="24688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93" y="1477441"/>
            <a:ext cx="135788" cy="1357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400" y="1316736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8A5C"/>
                </a:solidFill>
                <a:latin typeface="Calibri"/>
              </a:rPr>
              <a:t>En el hogar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1773936"/>
            <a:ext cx="2670048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3A2E"/>
                </a:solidFill>
                <a:latin typeface="Calibri"/>
              </a:rPr>
              <a:t>¿Niveles de contaminación?</a:t>
            </a:r>
          </a:p>
        </p:txBody>
      </p:sp>
      <p:sp>
        <p:nvSpPr>
          <p:cNvPr id="25" name="Oval 24"/>
          <p:cNvSpPr/>
          <p:nvPr/>
        </p:nvSpPr>
        <p:spPr>
          <a:xfrm>
            <a:off x="3323844" y="1879091"/>
            <a:ext cx="246888" cy="246888"/>
          </a:xfrm>
          <a:prstGeom prst="ellipse">
            <a:avLst/>
          </a:prstGeom>
          <a:solidFill>
            <a:srgbClr val="AEB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393" y="1934641"/>
            <a:ext cx="135788" cy="1357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57600" y="1773936"/>
            <a:ext cx="2057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0" i="0">
                <a:solidFill>
                  <a:srgbClr val="6B7E74"/>
                </a:solidFill>
                <a:latin typeface="Calibri"/>
              </a:rPr>
              <a:t>No distingue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01368"/>
            <a:ext cx="2468880" cy="402336"/>
          </a:xfrm>
          <a:prstGeom prst="roundRect">
            <a:avLst>
              <a:gd name="adj" fmla="val 16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95644" y="1879091"/>
            <a:ext cx="246888" cy="24688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93" y="1934641"/>
            <a:ext cx="135788" cy="1357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29400" y="1773936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8A5C"/>
                </a:solidFill>
                <a:latin typeface="Calibri"/>
              </a:rPr>
              <a:t>3 niveles: verde/ámbar/roja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2231136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EF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" y="2231136"/>
            <a:ext cx="2670048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3A2E"/>
                </a:solidFill>
                <a:latin typeface="Calibri"/>
              </a:rPr>
              <a:t>¿Registra hora y lugar?</a:t>
            </a:r>
          </a:p>
        </p:txBody>
      </p:sp>
      <p:sp>
        <p:nvSpPr>
          <p:cNvPr id="34" name="Oval 33"/>
          <p:cNvSpPr/>
          <p:nvPr/>
        </p:nvSpPr>
        <p:spPr>
          <a:xfrm>
            <a:off x="3323844" y="2336291"/>
            <a:ext cx="246888" cy="246888"/>
          </a:xfrm>
          <a:prstGeom prst="ellipse">
            <a:avLst/>
          </a:prstGeom>
          <a:solidFill>
            <a:srgbClr val="AEB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393" y="2391841"/>
            <a:ext cx="135788" cy="1357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57600" y="2231136"/>
            <a:ext cx="2057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0" i="0">
                <a:solidFill>
                  <a:srgbClr val="6B7E74"/>
                </a:solidFill>
                <a:latin typeface="Calibri"/>
              </a:rP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2258568"/>
            <a:ext cx="2468880" cy="402336"/>
          </a:xfrm>
          <a:prstGeom prst="roundRect">
            <a:avLst>
              <a:gd name="adj" fmla="val 16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295644" y="2336291"/>
            <a:ext cx="246888" cy="24688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93" y="2391841"/>
            <a:ext cx="135788" cy="1357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29400" y="2231136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8A5C"/>
                </a:solidFill>
                <a:latin typeface="Calibri"/>
              </a:rPr>
              <a:t>Sí, vía RFID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2688336"/>
            <a:ext cx="2670048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3A2E"/>
                </a:solidFill>
                <a:latin typeface="Calibri"/>
              </a:rPr>
              <a:t>¿Da feedback al ciudadano?</a:t>
            </a:r>
          </a:p>
        </p:txBody>
      </p:sp>
      <p:sp>
        <p:nvSpPr>
          <p:cNvPr id="42" name="Oval 41"/>
          <p:cNvSpPr/>
          <p:nvPr/>
        </p:nvSpPr>
        <p:spPr>
          <a:xfrm>
            <a:off x="3323844" y="2793491"/>
            <a:ext cx="246888" cy="246888"/>
          </a:xfrm>
          <a:prstGeom prst="ellipse">
            <a:avLst/>
          </a:prstGeom>
          <a:solidFill>
            <a:srgbClr val="AEB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393" y="2849041"/>
            <a:ext cx="135788" cy="13578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657600" y="2688336"/>
            <a:ext cx="2057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0" i="0">
                <a:solidFill>
                  <a:srgbClr val="6B7E74"/>
                </a:solidFill>
                <a:latin typeface="Calibri"/>
              </a:rPr>
              <a:t>No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715768"/>
            <a:ext cx="2468880" cy="402336"/>
          </a:xfrm>
          <a:prstGeom prst="roundRect">
            <a:avLst>
              <a:gd name="adj" fmla="val 16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295644" y="2793491"/>
            <a:ext cx="246888" cy="24688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93" y="2849041"/>
            <a:ext cx="135788" cy="13578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29400" y="2688336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8A5C"/>
                </a:solidFill>
                <a:latin typeface="Calibri"/>
              </a:rPr>
              <a:t>Sí, con sticker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3145536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EF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8912" y="3145536"/>
            <a:ext cx="2670048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3A2E"/>
                </a:solidFill>
                <a:latin typeface="Calibri"/>
              </a:rPr>
              <a:t>¿Genera dato para el RETC?</a:t>
            </a:r>
          </a:p>
        </p:txBody>
      </p:sp>
      <p:sp>
        <p:nvSpPr>
          <p:cNvPr id="51" name="Oval 50"/>
          <p:cNvSpPr/>
          <p:nvPr/>
        </p:nvSpPr>
        <p:spPr>
          <a:xfrm>
            <a:off x="3323844" y="3250691"/>
            <a:ext cx="246888" cy="246888"/>
          </a:xfrm>
          <a:prstGeom prst="ellipse">
            <a:avLst/>
          </a:prstGeom>
          <a:solidFill>
            <a:srgbClr val="AEB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393" y="3306241"/>
            <a:ext cx="135788" cy="13578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657600" y="3145536"/>
            <a:ext cx="2057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0" i="0">
                <a:solidFill>
                  <a:srgbClr val="6B7E74"/>
                </a:solidFill>
                <a:latin typeface="Calibri"/>
              </a:rPr>
              <a:t>No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172968"/>
            <a:ext cx="2468880" cy="402336"/>
          </a:xfrm>
          <a:prstGeom prst="roundRect">
            <a:avLst>
              <a:gd name="adj" fmla="val 16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295644" y="3250691"/>
            <a:ext cx="246888" cy="24688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93" y="3306241"/>
            <a:ext cx="135788" cy="1357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629400" y="3145536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8A5C"/>
                </a:solidFill>
                <a:latin typeface="Calibri"/>
              </a:rPr>
              <a:t>Sí, por zona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" y="3602736"/>
            <a:ext cx="2670048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3A2E"/>
                </a:solidFill>
                <a:latin typeface="Calibri"/>
              </a:rPr>
              <a:t>¿Existe en sistemas REP?</a:t>
            </a:r>
          </a:p>
        </p:txBody>
      </p:sp>
      <p:sp>
        <p:nvSpPr>
          <p:cNvPr id="59" name="Oval 58"/>
          <p:cNvSpPr/>
          <p:nvPr/>
        </p:nvSpPr>
        <p:spPr>
          <a:xfrm>
            <a:off x="3323844" y="3707891"/>
            <a:ext cx="246888" cy="246888"/>
          </a:xfrm>
          <a:prstGeom prst="ellipse">
            <a:avLst/>
          </a:prstGeom>
          <a:solidFill>
            <a:srgbClr val="AEB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393" y="3763441"/>
            <a:ext cx="135788" cy="13578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657600" y="3602736"/>
            <a:ext cx="2057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0" i="0">
                <a:solidFill>
                  <a:srgbClr val="6B7E74"/>
                </a:solidFill>
                <a:latin typeface="Calibri"/>
              </a:rPr>
              <a:t>Estándar actual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3630168"/>
            <a:ext cx="2468880" cy="402336"/>
          </a:xfrm>
          <a:prstGeom prst="roundRect">
            <a:avLst>
              <a:gd name="adj" fmla="val 16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295644" y="3707891"/>
            <a:ext cx="246888" cy="246888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93" y="3763441"/>
            <a:ext cx="135788" cy="13578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629400" y="3602736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8A5C"/>
                </a:solidFill>
                <a:latin typeface="Calibri"/>
              </a:rPr>
              <a:t>Ninguno (NUEVO)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Referencias de mercado: Insignia Technologies, Mimica, NIRLAB, Greyparrot. Ninguna opera la detección en el hogar.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c_per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16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PROTOTIPO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" y="969264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" y="914400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914400"/>
            <a:ext cx="118872" cy="868680"/>
          </a:xfrm>
          <a:prstGeom prst="roundRect">
            <a:avLst>
              <a:gd name="adj" fmla="val 40000"/>
            </a:avLst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8368" y="1074420"/>
            <a:ext cx="548640" cy="548640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_b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" y="1195120"/>
            <a:ext cx="307238" cy="3072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1033271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E3A2E"/>
                </a:solidFill>
                <a:latin typeface="Calibri"/>
              </a:rPr>
              <a:t>Material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335024"/>
            <a:ext cx="30632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Polietileno reciclable 50L con franja indicadora.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" y="1956816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5760" y="1901952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1901952"/>
            <a:ext cx="118872" cy="868680"/>
          </a:xfrm>
          <a:prstGeom prst="roundRect">
            <a:avLst>
              <a:gd name="adj" fmla="val 4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8368" y="2061972"/>
            <a:ext cx="548640" cy="548640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_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" y="2182672"/>
            <a:ext cx="307238" cy="3072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80160" y="2020824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E3A2E"/>
                </a:solidFill>
                <a:latin typeface="Calibri"/>
              </a:rPr>
              <a:t>Química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322576"/>
            <a:ext cx="30632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Lipasa + proteasa hidrolizan grasas y proteínas; indicador de pH.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" y="2944368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5760" y="2889504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" y="2889504"/>
            <a:ext cx="118872" cy="868680"/>
          </a:xfrm>
          <a:prstGeom prst="roundRect">
            <a:avLst>
              <a:gd name="adj" fmla="val 40000"/>
            </a:avLst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8368" y="3049524"/>
            <a:ext cx="548640" cy="548640"/>
          </a:xfrm>
          <a:prstGeom prst="ellipse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_rf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" y="3170224"/>
            <a:ext cx="307238" cy="3072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0160" y="3008376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E3A2E"/>
                </a:solidFill>
                <a:latin typeface="Calibri"/>
              </a:rPr>
              <a:t>Trazabilidad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310128"/>
            <a:ext cx="30632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Chip RFID leído en la boca del camión: hora y lugar.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3148" y="969264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2000" y="914400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663440" y="914400"/>
            <a:ext cx="118872" cy="868680"/>
          </a:xfrm>
          <a:prstGeom prst="roundRect">
            <a:avLst>
              <a:gd name="adj" fmla="val 40000"/>
            </a:avLst>
          </a:prstGeom>
          <a:solidFill>
            <a:srgbClr val="16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64608" y="1074420"/>
            <a:ext cx="548640" cy="548640"/>
          </a:xfrm>
          <a:prstGeom prst="ellipse">
            <a:avLst/>
          </a:prstGeom>
          <a:solidFill>
            <a:srgbClr val="16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5308" y="1195120"/>
            <a:ext cx="307238" cy="30723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486400" y="1033271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E3A2E"/>
                </a:solidFill>
                <a:latin typeface="Calibri"/>
              </a:rPr>
              <a:t>Tiempo reacción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1335024"/>
            <a:ext cx="30632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8 a 12 horas (preparar la noche anterior).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3148" y="1956816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72000" y="1901952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663440" y="1901952"/>
            <a:ext cx="118872" cy="868680"/>
          </a:xfrm>
          <a:prstGeom prst="roundRect">
            <a:avLst>
              <a:gd name="adj" fmla="val 40000"/>
            </a:avLst>
          </a:prstGeom>
          <a:solidFill>
            <a:srgbClr val="C0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864608" y="2061972"/>
            <a:ext cx="548640" cy="548640"/>
          </a:xfrm>
          <a:prstGeom prst="ellipse">
            <a:avLst/>
          </a:prstGeom>
          <a:solidFill>
            <a:srgbClr val="C0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c_doll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5308" y="2182672"/>
            <a:ext cx="307238" cy="30723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486400" y="2020824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E3A2E"/>
                </a:solidFill>
                <a:latin typeface="Calibri"/>
              </a:rPr>
              <a:t>Costo estimado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2322576"/>
            <a:ext cx="30632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Menos de USD $1 por unidad.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3148" y="2944368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572000" y="2889504"/>
            <a:ext cx="406908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663440" y="2889504"/>
            <a:ext cx="118872" cy="868680"/>
          </a:xfrm>
          <a:prstGeom prst="roundRect">
            <a:avLst>
              <a:gd name="adj" fmla="val 40000"/>
            </a:avLst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864608" y="3049524"/>
            <a:ext cx="548640" cy="548640"/>
          </a:xfrm>
          <a:prstGeom prst="ellipse">
            <a:avLst/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c_calend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5308" y="3170224"/>
            <a:ext cx="307238" cy="30723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86400" y="3008376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E3A2E"/>
                </a:solidFill>
                <a:latin typeface="Calibri"/>
              </a:rPr>
              <a:t>Retiro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3310128"/>
            <a:ext cx="30632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Semanal, vía sistemas de gestión y municipios.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Lógica de color: la hidrólisis enzimática libera ácidos → baja el pH → la bolsa vira de verde a ámbar a roja.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c_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PROPUESTA DE VALOR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" y="804671"/>
            <a:ext cx="3200400" cy="10972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" y="749808"/>
            <a:ext cx="3200400" cy="1097280"/>
          </a:xfrm>
          <a:prstGeom prst="roundRect">
            <a:avLst>
              <a:gd name="adj" fmla="val 9000"/>
            </a:avLst>
          </a:prstGeom>
          <a:solidFill>
            <a:srgbClr val="DF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749808"/>
            <a:ext cx="3017520" cy="118872"/>
          </a:xfrm>
          <a:prstGeom prst="roundRect">
            <a:avLst>
              <a:gd name="adj" fmla="val 40000"/>
            </a:avLst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ascot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841248"/>
            <a:ext cx="658368" cy="722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517904"/>
            <a:ext cx="8412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i="0">
                <a:solidFill>
                  <a:srgbClr val="1F8A5C"/>
                </a:solidFill>
                <a:latin typeface="Calibri"/>
              </a:rPr>
              <a:t>Verde</a:t>
            </a:r>
          </a:p>
        </p:txBody>
      </p:sp>
      <p:pic>
        <p:nvPicPr>
          <p:cNvPr id="14" name="Picture 13" descr="mascot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841248"/>
            <a:ext cx="658368" cy="722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17319" y="1517904"/>
            <a:ext cx="8412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i="0">
                <a:solidFill>
                  <a:srgbClr val="9C6A12"/>
                </a:solidFill>
                <a:latin typeface="Calibri"/>
              </a:rPr>
              <a:t>Ámbar</a:t>
            </a:r>
          </a:p>
        </p:txBody>
      </p:sp>
      <p:pic>
        <p:nvPicPr>
          <p:cNvPr id="16" name="Picture 15" descr="masco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841248"/>
            <a:ext cx="658368" cy="722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77440" y="1517904"/>
            <a:ext cx="84124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i="0">
                <a:solidFill>
                  <a:srgbClr val="D2543C"/>
                </a:solidFill>
                <a:latin typeface="Calibri"/>
              </a:rPr>
              <a:t>Roja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975104"/>
            <a:ext cx="3200400" cy="1325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3A2E"/>
                </a:solidFill>
                <a:latin typeface="Calibri"/>
              </a:rPr>
              <a:t>REP DATA 360 convierte la trazabilidad técnica en una señal visual + datos: qué se recicla, en qué nivel, cuándo y dónde.</a:t>
            </a:r>
          </a:p>
          <a:p>
            <a:pPr algn="l">
              <a:spcBef>
                <a:spcPts val="400"/>
              </a:spcBef>
            </a:pPr>
            <a:r>
              <a:rPr sz="1000" b="1" i="1">
                <a:solidFill>
                  <a:srgbClr val="1F8A5C"/>
                </a:solidFill>
                <a:latin typeface="Calibri"/>
              </a:rPr>
              <a:t>Con una bolsa que también es reciclable.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3028" y="804671"/>
            <a:ext cx="5166360" cy="786384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11880" y="749808"/>
            <a:ext cx="516636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03904" y="877824"/>
            <a:ext cx="530352" cy="530352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_rf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0581" y="994501"/>
            <a:ext cx="296997" cy="29699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53128" y="859536"/>
            <a:ext cx="42519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E3A2E"/>
                </a:solidFill>
                <a:latin typeface="Calibri"/>
              </a:rPr>
              <a:t>Dato 360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1161288"/>
            <a:ext cx="4251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Calidad en 3 niveles, hora y lugar por zona, vía RFID.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3028" y="1682495"/>
            <a:ext cx="5166360" cy="786384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11880" y="1627631"/>
            <a:ext cx="516636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03904" y="1755648"/>
            <a:ext cx="530352" cy="530352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_fac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0581" y="1872325"/>
            <a:ext cx="296997" cy="29699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53128" y="1737360"/>
            <a:ext cx="42519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E3A2E"/>
                </a:solidFill>
                <a:latin typeface="Calibri"/>
              </a:rPr>
              <a:t>Cliente que paga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2039112"/>
            <a:ext cx="4251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El sistema de gestión (empresas, productores, importadores) acredita metas REP.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3028" y="2560320"/>
            <a:ext cx="5166360" cy="786384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11880" y="2505456"/>
            <a:ext cx="516636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803904" y="2633472"/>
            <a:ext cx="530352" cy="530352"/>
          </a:xfrm>
          <a:prstGeom prst="ellipse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_stic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0581" y="2750149"/>
            <a:ext cx="296997" cy="29699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453128" y="2615184"/>
            <a:ext cx="42519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E3A2E"/>
                </a:solidFill>
                <a:latin typeface="Calibri"/>
              </a:rPr>
              <a:t>Feedback e inclusión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2916936"/>
            <a:ext cx="4251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E74"/>
                </a:solidFill>
                <a:latin typeface="Calibri"/>
              </a:rPr>
              <a:t>El ciudadano aprende con el sticker; el reciclador recibe material que sí recicla.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419856"/>
            <a:ext cx="7269480" cy="78638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419856"/>
            <a:ext cx="685800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 Black"/>
              </a:rPr>
              <a:t>Verde, ámbar o roja: </a:t>
            </a:r>
            <a:r>
              <a:rPr sz="1150" b="0" i="0">
                <a:solidFill>
                  <a:srgbClr val="8BD4A8"/>
                </a:solidFill>
                <a:latin typeface="Calibri"/>
              </a:rPr>
              <a:t>una señal que cualquiera entiende, con los datos que la autoridad necesita.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Ley REP N°20.920  ·  Art. 2(k) Trazabilidad  |  Art. 37 Recicladores de Base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c_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eco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274320" y="-411480"/>
            <a:ext cx="9692640" cy="969264"/>
          </a:xfrm>
          <a:prstGeom prst="roundRect">
            <a:avLst>
              <a:gd name="adj" fmla="val 16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F6C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0"/>
            <a:ext cx="6949440" cy="5577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EQUIPO DE TRABAJO</a:t>
            </a:r>
          </a:p>
        </p:txBody>
      </p:sp>
      <p:pic>
        <p:nvPicPr>
          <p:cNvPr id="7" name="Picture 6" descr="re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91440"/>
            <a:ext cx="384048" cy="384048"/>
          </a:xfrm>
          <a:prstGeom prst="rect">
            <a:avLst/>
          </a:prstGeom>
        </p:spPr>
      </p:pic>
      <p:pic>
        <p:nvPicPr>
          <p:cNvPr id="8" name="Picture 7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7160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76656"/>
            <a:ext cx="8412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1">
                <a:solidFill>
                  <a:srgbClr val="1F8A5C"/>
                </a:solidFill>
                <a:latin typeface="Calibri"/>
              </a:rPr>
              <a:t>Proyecto de Innovación REP DATA 360 · Ley REP N°20.920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353312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1298448"/>
            <a:ext cx="1755648" cy="118872"/>
          </a:xfrm>
          <a:prstGeom prst="roundRect">
            <a:avLst>
              <a:gd name="adj" fmla="val 40000"/>
            </a:avLst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5256" y="1682495"/>
            <a:ext cx="1133856" cy="1133856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" y="1682495"/>
            <a:ext cx="1133856" cy="11338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 i="0">
                <a:solidFill>
                  <a:srgbClr val="1E3A2E"/>
                </a:solidFill>
                <a:latin typeface="Calibri"/>
              </a:rPr>
              <a:t>César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83279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6B7E74"/>
                </a:solidFill>
                <a:latin typeface="Calibri"/>
              </a:rPr>
              <a:t>Guerrero Torres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83764" y="1353312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42616" y="1298448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34056" y="1298448"/>
            <a:ext cx="1755648" cy="118872"/>
          </a:xfrm>
          <a:prstGeom prst="roundRect">
            <a:avLst>
              <a:gd name="adj" fmla="val 4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044952" y="1682495"/>
            <a:ext cx="1133856" cy="1133856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44952" y="1682495"/>
            <a:ext cx="1133856" cy="11338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2962656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 i="0">
                <a:solidFill>
                  <a:srgbClr val="1E3A2E"/>
                </a:solidFill>
                <a:latin typeface="Calibri"/>
              </a:rPr>
              <a:t>Jaritza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3383279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6B7E74"/>
                </a:solidFill>
                <a:latin typeface="Calibri"/>
              </a:rPr>
              <a:t>Ramírez Valles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23460" y="1353312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82312" y="1298448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73752" y="1298448"/>
            <a:ext cx="1755648" cy="118872"/>
          </a:xfrm>
          <a:prstGeom prst="roundRect">
            <a:avLst>
              <a:gd name="adj" fmla="val 40000"/>
            </a:avLst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184648" y="1682495"/>
            <a:ext cx="1133856" cy="1133856"/>
          </a:xfrm>
          <a:prstGeom prst="ellipse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84648" y="1682495"/>
            <a:ext cx="1133856" cy="11338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2962656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 i="0">
                <a:solidFill>
                  <a:srgbClr val="1E3A2E"/>
                </a:solidFill>
                <a:latin typeface="Calibri"/>
              </a:rPr>
              <a:t>Sandy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3383279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6B7E74"/>
                </a:solidFill>
                <a:latin typeface="Calibri"/>
              </a:rPr>
              <a:t>Suárez Urriola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3156" y="1353312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D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22008" y="1298448"/>
            <a:ext cx="1938528" cy="2697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013448" y="1298448"/>
            <a:ext cx="1755648" cy="118872"/>
          </a:xfrm>
          <a:prstGeom prst="roundRect">
            <a:avLst>
              <a:gd name="adj" fmla="val 40000"/>
            </a:avLst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324344" y="1682495"/>
            <a:ext cx="1133856" cy="1133856"/>
          </a:xfrm>
          <a:prstGeom prst="ellipse">
            <a:avLst/>
          </a:prstGeom>
          <a:solidFill>
            <a:srgbClr val="F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24344" y="1682495"/>
            <a:ext cx="1133856" cy="11338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2962656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 i="0">
                <a:solidFill>
                  <a:srgbClr val="1E3A2E"/>
                </a:solidFill>
                <a:latin typeface="Calibri"/>
              </a:rPr>
              <a:t>Valentina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3383279"/>
            <a:ext cx="1755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6B7E74"/>
                </a:solidFill>
                <a:latin typeface="Calibri"/>
              </a:rPr>
              <a:t>Villalba Lleufo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855464"/>
            <a:ext cx="7040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 i="1">
                <a:solidFill>
                  <a:srgbClr val="6B7E74"/>
                </a:solidFill>
                <a:latin typeface="Calibri"/>
              </a:rPr>
              <a:t>REP DATA 360  ·  Proyecto de Innovación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08975" y="4169663"/>
            <a:ext cx="1188720" cy="850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B1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193023" y="4270247"/>
            <a:ext cx="420624" cy="420624"/>
          </a:xfrm>
          <a:prstGeom prst="ellipse">
            <a:avLst/>
          </a:prstGeom>
          <a:solidFill>
            <a:srgbClr val="2FB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c_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148" y="4354372"/>
            <a:ext cx="252374" cy="25237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08975" y="4718303"/>
            <a:ext cx="1188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1F4D3A"/>
                </a:solidFill>
                <a:latin typeface="Calibri"/>
              </a:rPr>
              <a:t>Tú en vivo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1072</Words>
  <Application>Microsoft Office PowerPoint</Application>
  <PresentationFormat>Presentación en pantalla (16:9)</PresentationFormat>
  <Paragraphs>163</Paragraphs>
  <Slides>11</Slides>
  <Notes>0</Notes>
  <HiddenSlides>0</HiddenSlides>
  <MMClips>2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Sandy Suárez</dc:creator>
  <cp:keywords/>
  <dc:description>generated using python-pptx</dc:description>
  <cp:lastModifiedBy>Sandy Suárez</cp:lastModifiedBy>
  <cp:revision>3</cp:revision>
  <dcterms:created xsi:type="dcterms:W3CDTF">2013-01-27T09:14:16Z</dcterms:created>
  <dcterms:modified xsi:type="dcterms:W3CDTF">2026-07-20T01:01:17Z</dcterms:modified>
  <cp:category/>
</cp:coreProperties>
</file>